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 Bold" charset="1" panose="02020803070505020304"/>
      <p:regular r:id="rId26"/>
    </p:embeddedFont>
    <p:embeddedFont>
      <p:font typeface="Times New Roman" charset="1" panose="02020603050405020304"/>
      <p:regular r:id="rId27"/>
    </p:embeddedFont>
    <p:embeddedFont>
      <p:font typeface="Times New Roman Italics" charset="1" panose="020205030504050903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44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2948940"/>
            <a:ext cx="15499080" cy="2194560"/>
            <a:chOff x="0" y="0"/>
            <a:chExt cx="20665440" cy="2926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5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13" r="0" b="-876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0665440" cy="290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Predicting Diabetes Risk from Clinical and Demographic Data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4869180"/>
            <a:ext cx="15087600" cy="822960"/>
            <a:chOff x="0" y="0"/>
            <a:chExt cx="201168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Comparative Machine Learning Study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29580">
            <a:off x="1215304" y="5956935"/>
            <a:ext cx="4427382" cy="0"/>
          </a:xfrm>
          <a:prstGeom prst="line">
            <a:avLst/>
          </a:prstGeom>
          <a:ln cap="rnd" w="19050">
            <a:solidFill>
              <a:srgbClr val="A647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234440" y="6309360"/>
            <a:ext cx="10972800" cy="548640"/>
            <a:chOff x="0" y="0"/>
            <a:chExt cx="146304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CBIO313: Machine Learning &amp; Data Mining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7312721"/>
            <a:ext cx="13716000" cy="667899"/>
            <a:chOff x="0" y="0"/>
            <a:chExt cx="18288000" cy="8905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890532"/>
            </a:xfrm>
            <a:custGeom>
              <a:avLst/>
              <a:gdLst/>
              <a:ahLst/>
              <a:cxnLst/>
              <a:rect r="r" b="b" t="t" l="l"/>
              <a:pathLst>
                <a:path h="89053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90532"/>
                  </a:lnTo>
                  <a:lnTo>
                    <a:pt x="0" y="890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073" r="0" b="-3412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919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sz="334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Presented by: Asmaa Mohamed Mansour   |   ID: 221001928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8435340"/>
            <a:ext cx="13716000" cy="548640"/>
            <a:chOff x="0" y="0"/>
            <a:chExt cx="182880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8288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Supervised by: Dr. Muhammed Elsayeh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0"/>
            <a:ext cx="1970773" cy="1920240"/>
          </a:xfrm>
          <a:custGeom>
            <a:avLst/>
            <a:gdLst/>
            <a:ahLst/>
            <a:cxnLst/>
            <a:rect r="r" b="b" t="t" l="l"/>
            <a:pathLst>
              <a:path h="1920240" w="1970773">
                <a:moveTo>
                  <a:pt x="0" y="0"/>
                </a:moveTo>
                <a:lnTo>
                  <a:pt x="1970773" y="0"/>
                </a:lnTo>
                <a:lnTo>
                  <a:pt x="1970773" y="1920240"/>
                </a:lnTo>
                <a:lnTo>
                  <a:pt x="0" y="1920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HbA1c matters for diabetes prediction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96515"/>
            <a:ext cx="5162550" cy="5093970"/>
            <a:chOff x="0" y="0"/>
            <a:chExt cx="6883400" cy="6791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3400" cy="6791960"/>
            </a:xfrm>
            <a:custGeom>
              <a:avLst/>
              <a:gdLst/>
              <a:ahLst/>
              <a:cxnLst/>
              <a:rect r="r" b="b" t="t" l="l"/>
              <a:pathLst>
                <a:path h="679196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6645148"/>
                  </a:lnTo>
                  <a:cubicBezTo>
                    <a:pt x="6883400" y="6726301"/>
                    <a:pt x="6817614" y="6791960"/>
                    <a:pt x="6736588" y="6791960"/>
                  </a:cubicBezTo>
                  <a:lnTo>
                    <a:pt x="146812" y="6791960"/>
                  </a:lnTo>
                  <a:cubicBezTo>
                    <a:pt x="65786" y="6791960"/>
                    <a:pt x="0" y="6726174"/>
                    <a:pt x="0" y="6645148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008" y="3017520"/>
            <a:ext cx="4375404" cy="1234440"/>
            <a:chOff x="0" y="0"/>
            <a:chExt cx="5833872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33872" cy="1645920"/>
            </a:xfrm>
            <a:custGeom>
              <a:avLst/>
              <a:gdLst/>
              <a:ahLst/>
              <a:cxnLst/>
              <a:rect r="r" b="b" t="t" l="l"/>
              <a:pathLst>
                <a:path h="164592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3" r="0" b="-190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833872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Chronic, global burden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7008" y="4320540"/>
            <a:ext cx="4375404" cy="3017520"/>
            <a:chOff x="0" y="0"/>
            <a:chExt cx="5833872" cy="4023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33872" cy="4023360"/>
            </a:xfrm>
            <a:custGeom>
              <a:avLst/>
              <a:gdLst/>
              <a:ahLst/>
              <a:cxnLst/>
              <a:rect r="r" b="b" t="t" l="l"/>
              <a:pathLst>
                <a:path h="402336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485" t="0" r="-3848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833872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1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Diabetes affects millions worldwide, risking cardiovascular disease, kidney failure, nerve damage and vision loss if undiagnosed.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36995" y="2596515"/>
            <a:ext cx="5162550" cy="5093970"/>
            <a:chOff x="0" y="0"/>
            <a:chExt cx="6883400" cy="6791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3400" cy="6791960"/>
            </a:xfrm>
            <a:custGeom>
              <a:avLst/>
              <a:gdLst/>
              <a:ahLst/>
              <a:cxnLst/>
              <a:rect r="r" b="b" t="t" l="l"/>
              <a:pathLst>
                <a:path h="679196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6645148"/>
                  </a:lnTo>
                  <a:cubicBezTo>
                    <a:pt x="6883400" y="6726301"/>
                    <a:pt x="6817614" y="6791960"/>
                    <a:pt x="6736588" y="6791960"/>
                  </a:cubicBezTo>
                  <a:lnTo>
                    <a:pt x="146812" y="6791960"/>
                  </a:lnTo>
                  <a:cubicBezTo>
                    <a:pt x="65786" y="6791960"/>
                    <a:pt x="0" y="6726174"/>
                    <a:pt x="0" y="6645148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30568" y="3017520"/>
            <a:ext cx="4375404" cy="1234440"/>
            <a:chOff x="0" y="0"/>
            <a:chExt cx="5833872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33872" cy="1645920"/>
            </a:xfrm>
            <a:custGeom>
              <a:avLst/>
              <a:gdLst/>
              <a:ahLst/>
              <a:cxnLst/>
              <a:rect r="r" b="b" t="t" l="l"/>
              <a:pathLst>
                <a:path h="164592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3" r="0" b="-190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833872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HbA1c as a biomarker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30568" y="4320540"/>
            <a:ext cx="4375404" cy="3017520"/>
            <a:chOff x="0" y="0"/>
            <a:chExt cx="5833872" cy="402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33872" cy="4023360"/>
            </a:xfrm>
            <a:custGeom>
              <a:avLst/>
              <a:gdLst/>
              <a:ahLst/>
              <a:cxnLst/>
              <a:rect r="r" b="b" t="t" l="l"/>
              <a:pathLst>
                <a:path h="402336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485" t="0" r="-3848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833872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1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Glycated hemoglobin reflects average blood glucose over 2–3 months — a more stable signal than a single glucose reading.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60555" y="2596515"/>
            <a:ext cx="5162550" cy="5093970"/>
            <a:chOff x="0" y="0"/>
            <a:chExt cx="6883400" cy="6791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83400" cy="6791960"/>
            </a:xfrm>
            <a:custGeom>
              <a:avLst/>
              <a:gdLst/>
              <a:ahLst/>
              <a:cxnLst/>
              <a:rect r="r" b="b" t="t" l="l"/>
              <a:pathLst>
                <a:path h="679196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6645148"/>
                  </a:lnTo>
                  <a:cubicBezTo>
                    <a:pt x="6883400" y="6726301"/>
                    <a:pt x="6817614" y="6791960"/>
                    <a:pt x="6736588" y="6791960"/>
                  </a:cubicBezTo>
                  <a:lnTo>
                    <a:pt x="146812" y="6791960"/>
                  </a:lnTo>
                  <a:cubicBezTo>
                    <a:pt x="65786" y="6791960"/>
                    <a:pt x="0" y="6726174"/>
                    <a:pt x="0" y="6645148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54128" y="3017520"/>
            <a:ext cx="4375404" cy="1234440"/>
            <a:chOff x="0" y="0"/>
            <a:chExt cx="5833872" cy="164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33872" cy="1645920"/>
            </a:xfrm>
            <a:custGeom>
              <a:avLst/>
              <a:gdLst/>
              <a:ahLst/>
              <a:cxnLst/>
              <a:rect r="r" b="b" t="t" l="l"/>
              <a:pathLst>
                <a:path h="164592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3" r="0" b="-1906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833872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ML question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54128" y="4320540"/>
            <a:ext cx="4375404" cy="3017520"/>
            <a:chOff x="0" y="0"/>
            <a:chExt cx="5833872" cy="4023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33872" cy="4023360"/>
            </a:xfrm>
            <a:custGeom>
              <a:avLst/>
              <a:gdLst/>
              <a:ahLst/>
              <a:cxnLst/>
              <a:rect r="r" b="b" t="t" l="l"/>
              <a:pathLst>
                <a:path h="402336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485" t="0" r="-3848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833872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1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How well do HbA1c and related clinical/demographic features predict diabetes status across different model families?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 &amp; Preprocessing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379345"/>
            <a:ext cx="804672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00" b="true">
                <a:solidFill>
                  <a:srgbClr val="3B141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100,000 patient records</a:t>
            </a:r>
            <a:r>
              <a:rPr lang="en-US" sz="2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— 16 columns: age, gender, BMI, HbA1c level, blood glucose, smoking history, hypertension, heart disease, diabetes (target)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4059936"/>
            <a:ext cx="164592" cy="164592"/>
            <a:chOff x="0" y="0"/>
            <a:chExt cx="219456" cy="2194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99A3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3867912"/>
            <a:ext cx="7818120" cy="685800"/>
            <a:chOff x="0" y="0"/>
            <a:chExt cx="1042416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424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missing values; 14 duplicate rows identified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4910328"/>
            <a:ext cx="164592" cy="164592"/>
            <a:chOff x="0" y="0"/>
            <a:chExt cx="21945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99A3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4440" y="4718304"/>
            <a:ext cx="7818120" cy="685800"/>
            <a:chOff x="0" y="0"/>
            <a:chExt cx="1042416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424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Encoded gender &amp; smoking_history as numeric categories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5760720"/>
            <a:ext cx="164592" cy="164592"/>
            <a:chOff x="0" y="0"/>
            <a:chExt cx="219456" cy="2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99A3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5568696"/>
            <a:ext cx="7818120" cy="685800"/>
            <a:chOff x="0" y="0"/>
            <a:chExt cx="1042416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424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StandardScaler applied to age, bmi, hbA1c_level, blood_glucose_level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6611112"/>
            <a:ext cx="164592" cy="164592"/>
            <a:chOff x="0" y="0"/>
            <a:chExt cx="219456" cy="219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99A3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6419088"/>
            <a:ext cx="7818120" cy="685800"/>
            <a:chOff x="0" y="0"/>
            <a:chExt cx="1042416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424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80% / 20% train–test split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91675" y="2390775"/>
            <a:ext cx="7837170" cy="6739890"/>
            <a:chOff x="0" y="0"/>
            <a:chExt cx="10449560" cy="8986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495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4495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659"/>
                    <a:pt x="10449560" y="146812"/>
                  </a:cubicBezTo>
                  <a:lnTo>
                    <a:pt x="10449560" y="8839708"/>
                  </a:lnTo>
                  <a:cubicBezTo>
                    <a:pt x="10449560" y="8920734"/>
                    <a:pt x="10383901" y="8986520"/>
                    <a:pt x="1030274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012680" y="2743200"/>
            <a:ext cx="6995160" cy="548640"/>
            <a:chOff x="0" y="0"/>
            <a:chExt cx="93268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326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Class Balance (test set, n = 19,994)</a:t>
              </a:r>
            </a:p>
          </p:txBody>
        </p:sp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14916" y="2756916"/>
            <a:ext cx="8065008" cy="6693408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EXPLORATORY DATA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Target distribution &amp; age profile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931462"/>
            <a:ext cx="7680960" cy="5109886"/>
            <a:chOff x="0" y="0"/>
            <a:chExt cx="10241280" cy="6813182"/>
          </a:xfrm>
        </p:grpSpPr>
        <p:sp>
          <p:nvSpPr>
            <p:cNvPr name="Freeform 9" id="9" descr="imgs/cell11_0.png"/>
            <p:cNvSpPr/>
            <p:nvPr/>
          </p:nvSpPr>
          <p:spPr>
            <a:xfrm flipH="false" flipV="false" rot="0">
              <a:off x="0" y="0"/>
              <a:ext cx="10241280" cy="6813169"/>
            </a:xfrm>
            <a:custGeom>
              <a:avLst/>
              <a:gdLst/>
              <a:ahLst/>
              <a:cxnLst/>
              <a:rect r="r" b="b" t="t" l="l"/>
              <a:pathLst>
                <a:path h="681316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13169"/>
                  </a:lnTo>
                  <a:lnTo>
                    <a:pt x="0" y="6813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0" y="2947778"/>
            <a:ext cx="7680960" cy="5077244"/>
            <a:chOff x="0" y="0"/>
            <a:chExt cx="10241280" cy="6769659"/>
          </a:xfrm>
        </p:grpSpPr>
        <p:sp>
          <p:nvSpPr>
            <p:cNvPr name="Freeform 11" id="11" descr="imgs/cell12_1.png"/>
            <p:cNvSpPr/>
            <p:nvPr/>
          </p:nvSpPr>
          <p:spPr>
            <a:xfrm flipH="false" flipV="false" rot="0">
              <a:off x="0" y="0"/>
              <a:ext cx="10241280" cy="6769608"/>
            </a:xfrm>
            <a:custGeom>
              <a:avLst/>
              <a:gdLst/>
              <a:ahLst/>
              <a:cxnLst/>
              <a:rect r="r" b="b" t="t" l="l"/>
              <a:pathLst>
                <a:path h="67696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769608"/>
                  </a:lnTo>
                  <a:lnTo>
                    <a:pt x="0" y="6769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8709660"/>
            <a:ext cx="8092440" cy="685800"/>
            <a:chOff x="0" y="0"/>
            <a:chExt cx="107899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~91.5% non-diabetic vs ~8.5% diabetic — a strongly imbalanced target.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0" y="8709660"/>
            <a:ext cx="8092440" cy="685800"/>
            <a:chOff x="0" y="0"/>
            <a:chExt cx="107899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Age spans the adult range with a spike near the upper bound.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EXPLORATORY DATA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Clinical markers by diabetes status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886589"/>
            <a:ext cx="7680960" cy="5336772"/>
            <a:chOff x="0" y="0"/>
            <a:chExt cx="10241280" cy="7115696"/>
          </a:xfrm>
        </p:grpSpPr>
        <p:sp>
          <p:nvSpPr>
            <p:cNvPr name="Freeform 9" id="9" descr="imgs/cell13_2.png"/>
            <p:cNvSpPr/>
            <p:nvPr/>
          </p:nvSpPr>
          <p:spPr>
            <a:xfrm flipH="false" flipV="false" rot="0">
              <a:off x="0" y="0"/>
              <a:ext cx="10241280" cy="7115683"/>
            </a:xfrm>
            <a:custGeom>
              <a:avLst/>
              <a:gdLst/>
              <a:ahLst/>
              <a:cxnLst/>
              <a:rect r="r" b="b" t="t" l="l"/>
              <a:pathLst>
                <a:path h="711568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115683"/>
                  </a:lnTo>
                  <a:lnTo>
                    <a:pt x="0" y="711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0" y="2537460"/>
            <a:ext cx="7543800" cy="6035040"/>
            <a:chOff x="0" y="0"/>
            <a:chExt cx="10058400" cy="8046720"/>
          </a:xfrm>
        </p:grpSpPr>
        <p:sp>
          <p:nvSpPr>
            <p:cNvPr name="Freeform 11" id="11" descr="imgs/cell15_4.png"/>
            <p:cNvSpPr/>
            <p:nvPr/>
          </p:nvSpPr>
          <p:spPr>
            <a:xfrm flipH="false" flipV="false" rot="0">
              <a:off x="0" y="0"/>
              <a:ext cx="100584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046720"/>
                  </a:lnTo>
                  <a:lnTo>
                    <a:pt x="0" y="8046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8778240"/>
            <a:ext cx="8092440" cy="685800"/>
            <a:chOff x="0" y="0"/>
            <a:chExt cx="107899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Diabetic patients trend toward higher BMI.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0" y="8778240"/>
            <a:ext cx="8092440" cy="685800"/>
            <a:chOff x="0" y="0"/>
            <a:chExt cx="107899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Blood glucose shows a clear rightward shift for diabetic patients.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FEATURE ENGINEERING &amp; SELECTION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HbA1c and glucose dominate feature importance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945440" cy="6858000"/>
            <a:chOff x="0" y="0"/>
            <a:chExt cx="9260586" cy="9144000"/>
          </a:xfrm>
        </p:grpSpPr>
        <p:sp>
          <p:nvSpPr>
            <p:cNvPr name="Freeform 9" id="9" descr="imgs/cell18_5.png"/>
            <p:cNvSpPr/>
            <p:nvPr/>
          </p:nvSpPr>
          <p:spPr>
            <a:xfrm flipH="false" flipV="false" rot="0">
              <a:off x="0" y="0"/>
              <a:ext cx="9260586" cy="9144000"/>
            </a:xfrm>
            <a:custGeom>
              <a:avLst/>
              <a:gdLst/>
              <a:ahLst/>
              <a:cxnLst/>
              <a:rect r="r" b="b" t="t" l="l"/>
              <a:pathLst>
                <a:path h="9144000" w="9260586">
                  <a:moveTo>
                    <a:pt x="0" y="0"/>
                  </a:moveTo>
                  <a:lnTo>
                    <a:pt x="9260586" y="0"/>
                  </a:lnTo>
                  <a:lnTo>
                    <a:pt x="926058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24160" y="2606040"/>
            <a:ext cx="6995160" cy="685800"/>
            <a:chOff x="0" y="0"/>
            <a:chExt cx="932688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6880" cy="914400"/>
            </a:xfrm>
            <a:custGeom>
              <a:avLst/>
              <a:gdLst/>
              <a:ahLst/>
              <a:cxnLst/>
              <a:rect r="r" b="b" t="t" l="l"/>
              <a:pathLst>
                <a:path h="914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3268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Top 5 selected features (Random Forest importances)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424160" y="3429000"/>
          <a:ext cx="6972300" cy="3543300"/>
        </p:xfrm>
        <a:graphic>
          <a:graphicData uri="http://schemas.openxmlformats.org/drawingml/2006/table">
            <a:tbl>
              <a:tblPr/>
              <a:tblGrid>
                <a:gridCol w="3486150"/>
                <a:gridCol w="3486150"/>
              </a:tblGrid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Importance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hbA1c_level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blood_glucose_level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bmi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smoking_history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0424160" y="7269480"/>
            <a:ext cx="6995160" cy="1645920"/>
            <a:chOff x="0" y="0"/>
            <a:chExt cx="932688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26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32688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Together, HbA1c and glucose account for ~70% of predictive weight — confirming their clinical significance.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Six models, one evaluation framework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733675"/>
            <a:ext cx="5299710" cy="2350770"/>
            <a:chOff x="0" y="0"/>
            <a:chExt cx="7066280" cy="3134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2986913"/>
                  </a:lnTo>
                  <a:cubicBezTo>
                    <a:pt x="7066280" y="3068320"/>
                    <a:pt x="7000239" y="3134360"/>
                    <a:pt x="69188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497580"/>
            <a:ext cx="4594860" cy="822960"/>
            <a:chOff x="0" y="0"/>
            <a:chExt cx="61264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Random Forest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36995" y="2733675"/>
            <a:ext cx="5299710" cy="2350770"/>
            <a:chOff x="0" y="0"/>
            <a:chExt cx="7066280" cy="3134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62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2986913"/>
                  </a:lnTo>
                  <a:cubicBezTo>
                    <a:pt x="7066280" y="3068320"/>
                    <a:pt x="7000239" y="3134360"/>
                    <a:pt x="69188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89420" y="3497580"/>
            <a:ext cx="4594860" cy="822960"/>
            <a:chOff x="0" y="0"/>
            <a:chExt cx="61264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XGBoost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60555" y="2733675"/>
            <a:ext cx="5299710" cy="2350770"/>
            <a:chOff x="0" y="0"/>
            <a:chExt cx="7066280" cy="3134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62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2986913"/>
                  </a:lnTo>
                  <a:cubicBezTo>
                    <a:pt x="7066280" y="3068320"/>
                    <a:pt x="7000239" y="3134360"/>
                    <a:pt x="69188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412980" y="3497580"/>
            <a:ext cx="4594860" cy="822960"/>
            <a:chOff x="0" y="0"/>
            <a:chExt cx="61264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Logistic Regression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3435" y="5476875"/>
            <a:ext cx="5299710" cy="2350770"/>
            <a:chOff x="0" y="0"/>
            <a:chExt cx="7066280" cy="3134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62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2986913"/>
                  </a:lnTo>
                  <a:cubicBezTo>
                    <a:pt x="7066280" y="3068320"/>
                    <a:pt x="7000239" y="3134360"/>
                    <a:pt x="69188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65860" y="6240780"/>
            <a:ext cx="4594860" cy="822960"/>
            <a:chOff x="0" y="0"/>
            <a:chExt cx="61264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K-Nearest Neighbors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36995" y="5476875"/>
            <a:ext cx="5299710" cy="2350770"/>
            <a:chOff x="0" y="0"/>
            <a:chExt cx="7066280" cy="3134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62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2986913"/>
                  </a:lnTo>
                  <a:cubicBezTo>
                    <a:pt x="7066280" y="3068320"/>
                    <a:pt x="7000239" y="3134360"/>
                    <a:pt x="69188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89420" y="6240780"/>
            <a:ext cx="4594860" cy="822960"/>
            <a:chOff x="0" y="0"/>
            <a:chExt cx="61264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Decision Tree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60555" y="5476875"/>
            <a:ext cx="5299710" cy="2350770"/>
            <a:chOff x="0" y="0"/>
            <a:chExt cx="7066280" cy="3134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662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2986913"/>
                  </a:lnTo>
                  <a:cubicBezTo>
                    <a:pt x="7066280" y="3068320"/>
                    <a:pt x="7000239" y="3134360"/>
                    <a:pt x="69188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AF6F0"/>
            </a:solidFill>
            <a:ln w="19050" cap="sq">
              <a:solidFill>
                <a:srgbClr val="E7DDD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412980" y="6240780"/>
            <a:ext cx="4594860" cy="822960"/>
            <a:chOff x="0" y="0"/>
            <a:chExt cx="61264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B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Naive Bayes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8366760"/>
            <a:ext cx="15910560" cy="685800"/>
            <a:chOff x="0" y="0"/>
            <a:chExt cx="2121408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21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2140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Evaluated on: Accuracy · Precision · Recall · F1 Score · Confusion Matrix · ROC-AUC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Random Forest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517367" cy="5623560"/>
            <a:chOff x="0" y="0"/>
            <a:chExt cx="8689823" cy="7498080"/>
          </a:xfrm>
        </p:grpSpPr>
        <p:sp>
          <p:nvSpPr>
            <p:cNvPr name="Freeform 9" id="9" descr="imgs/cell23_11.png"/>
            <p:cNvSpPr/>
            <p:nvPr/>
          </p:nvSpPr>
          <p:spPr>
            <a:xfrm flipH="false" flipV="false" rot="0">
              <a:off x="0" y="0"/>
              <a:ext cx="8689848" cy="7498080"/>
            </a:xfrm>
            <a:custGeom>
              <a:avLst/>
              <a:gdLst/>
              <a:ahLst/>
              <a:cxnLst/>
              <a:rect r="r" b="b" t="t" l="l"/>
              <a:pathLst>
                <a:path h="7498080" w="8689848">
                  <a:moveTo>
                    <a:pt x="0" y="0"/>
                  </a:moveTo>
                  <a:lnTo>
                    <a:pt x="8689848" y="0"/>
                  </a:lnTo>
                  <a:lnTo>
                    <a:pt x="8689848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1020" y="2400300"/>
            <a:ext cx="6771227" cy="5623560"/>
            <a:chOff x="0" y="0"/>
            <a:chExt cx="9028303" cy="7498080"/>
          </a:xfrm>
        </p:grpSpPr>
        <p:sp>
          <p:nvSpPr>
            <p:cNvPr name="Freeform 11" id="11" descr="imgs/cell23_12.png"/>
            <p:cNvSpPr/>
            <p:nvPr/>
          </p:nvSpPr>
          <p:spPr>
            <a:xfrm flipH="false" flipV="false" rot="0">
              <a:off x="0" y="0"/>
              <a:ext cx="9028303" cy="7498080"/>
            </a:xfrm>
            <a:custGeom>
              <a:avLst/>
              <a:gdLst/>
              <a:ahLst/>
              <a:cxnLst/>
              <a:rect r="r" b="b" t="t" l="l"/>
              <a:pathLst>
                <a:path h="7498080" w="9028303">
                  <a:moveTo>
                    <a:pt x="0" y="0"/>
                  </a:moveTo>
                  <a:lnTo>
                    <a:pt x="9028303" y="0"/>
                  </a:lnTo>
                  <a:lnTo>
                    <a:pt x="9028303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93340" y="2606040"/>
            <a:ext cx="2194560" cy="1165860"/>
            <a:chOff x="0" y="0"/>
            <a:chExt cx="29260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3340" y="2688336"/>
            <a:ext cx="2194560" cy="617220"/>
            <a:chOff x="0" y="0"/>
            <a:chExt cx="29260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93340" y="32918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93340" y="397764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293340" y="4059936"/>
            <a:ext cx="2194560" cy="617220"/>
            <a:chOff x="0" y="0"/>
            <a:chExt cx="2926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3340" y="4663440"/>
            <a:ext cx="2194560" cy="411480"/>
            <a:chOff x="0" y="0"/>
            <a:chExt cx="29260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93340" y="5349240"/>
            <a:ext cx="2194560" cy="1165860"/>
            <a:chOff x="0" y="0"/>
            <a:chExt cx="2926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93340" y="5431536"/>
            <a:ext cx="2194560" cy="617220"/>
            <a:chOff x="0" y="0"/>
            <a:chExt cx="2926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0.68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93340" y="6035040"/>
            <a:ext cx="2194560" cy="411480"/>
            <a:chOff x="0" y="0"/>
            <a:chExt cx="29260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93340" y="6720840"/>
            <a:ext cx="2194560" cy="1165860"/>
            <a:chOff x="0" y="0"/>
            <a:chExt cx="29260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93340" y="6803136"/>
            <a:ext cx="2194560" cy="617220"/>
            <a:chOff x="0" y="0"/>
            <a:chExt cx="292608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0.80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93340" y="740664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F1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340" y="809244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293340" y="8174736"/>
            <a:ext cx="2194560" cy="617220"/>
            <a:chOff x="0" y="0"/>
            <a:chExt cx="29260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293340" y="8778240"/>
            <a:ext cx="2194560" cy="411480"/>
            <a:chOff x="0" y="0"/>
            <a:chExt cx="29260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XGBoost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517367" cy="5623560"/>
            <a:chOff x="0" y="0"/>
            <a:chExt cx="8689823" cy="7498080"/>
          </a:xfrm>
        </p:grpSpPr>
        <p:sp>
          <p:nvSpPr>
            <p:cNvPr name="Freeform 9" id="9" descr="imgs/cell28_21.png"/>
            <p:cNvSpPr/>
            <p:nvPr/>
          </p:nvSpPr>
          <p:spPr>
            <a:xfrm flipH="false" flipV="false" rot="0">
              <a:off x="0" y="0"/>
              <a:ext cx="8689848" cy="7498080"/>
            </a:xfrm>
            <a:custGeom>
              <a:avLst/>
              <a:gdLst/>
              <a:ahLst/>
              <a:cxnLst/>
              <a:rect r="r" b="b" t="t" l="l"/>
              <a:pathLst>
                <a:path h="7498080" w="8689848">
                  <a:moveTo>
                    <a:pt x="0" y="0"/>
                  </a:moveTo>
                  <a:lnTo>
                    <a:pt x="8689848" y="0"/>
                  </a:lnTo>
                  <a:lnTo>
                    <a:pt x="8689848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1020" y="2400300"/>
            <a:ext cx="6771227" cy="5623560"/>
            <a:chOff x="0" y="0"/>
            <a:chExt cx="9028303" cy="7498080"/>
          </a:xfrm>
        </p:grpSpPr>
        <p:sp>
          <p:nvSpPr>
            <p:cNvPr name="Freeform 11" id="11" descr="imgs/cell28_22.png"/>
            <p:cNvSpPr/>
            <p:nvPr/>
          </p:nvSpPr>
          <p:spPr>
            <a:xfrm flipH="false" flipV="false" rot="0">
              <a:off x="0" y="0"/>
              <a:ext cx="9028303" cy="7498080"/>
            </a:xfrm>
            <a:custGeom>
              <a:avLst/>
              <a:gdLst/>
              <a:ahLst/>
              <a:cxnLst/>
              <a:rect r="r" b="b" t="t" l="l"/>
              <a:pathLst>
                <a:path h="7498080" w="9028303">
                  <a:moveTo>
                    <a:pt x="0" y="0"/>
                  </a:moveTo>
                  <a:lnTo>
                    <a:pt x="9028303" y="0"/>
                  </a:lnTo>
                  <a:lnTo>
                    <a:pt x="9028303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93340" y="2606040"/>
            <a:ext cx="2194560" cy="1165860"/>
            <a:chOff x="0" y="0"/>
            <a:chExt cx="29260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3340" y="2688336"/>
            <a:ext cx="2194560" cy="617220"/>
            <a:chOff x="0" y="0"/>
            <a:chExt cx="29260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93340" y="32918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93340" y="397764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293340" y="4059936"/>
            <a:ext cx="2194560" cy="617220"/>
            <a:chOff x="0" y="0"/>
            <a:chExt cx="2926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3340" y="4663440"/>
            <a:ext cx="2194560" cy="411480"/>
            <a:chOff x="0" y="0"/>
            <a:chExt cx="29260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93340" y="5349240"/>
            <a:ext cx="2194560" cy="1165860"/>
            <a:chOff x="0" y="0"/>
            <a:chExt cx="2926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93340" y="5431536"/>
            <a:ext cx="2194560" cy="617220"/>
            <a:chOff x="0" y="0"/>
            <a:chExt cx="2926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0.69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93340" y="6035040"/>
            <a:ext cx="2194560" cy="411480"/>
            <a:chOff x="0" y="0"/>
            <a:chExt cx="29260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93340" y="6720840"/>
            <a:ext cx="2194560" cy="1165860"/>
            <a:chOff x="0" y="0"/>
            <a:chExt cx="29260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93340" y="6803136"/>
            <a:ext cx="2194560" cy="617220"/>
            <a:chOff x="0" y="0"/>
            <a:chExt cx="292608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0.81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93340" y="740664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F1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340" y="809244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293340" y="8174736"/>
            <a:ext cx="2194560" cy="617220"/>
            <a:chOff x="0" y="0"/>
            <a:chExt cx="29260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0.98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293340" y="8778240"/>
            <a:ext cx="2194560" cy="411480"/>
            <a:chOff x="0" y="0"/>
            <a:chExt cx="29260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Logistic Regression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517367" cy="5623560"/>
            <a:chOff x="0" y="0"/>
            <a:chExt cx="8689823" cy="7498080"/>
          </a:xfrm>
        </p:grpSpPr>
        <p:sp>
          <p:nvSpPr>
            <p:cNvPr name="Freeform 9" id="9" descr="imgs/cell25_15.png"/>
            <p:cNvSpPr/>
            <p:nvPr/>
          </p:nvSpPr>
          <p:spPr>
            <a:xfrm flipH="false" flipV="false" rot="0">
              <a:off x="0" y="0"/>
              <a:ext cx="8689848" cy="7498080"/>
            </a:xfrm>
            <a:custGeom>
              <a:avLst/>
              <a:gdLst/>
              <a:ahLst/>
              <a:cxnLst/>
              <a:rect r="r" b="b" t="t" l="l"/>
              <a:pathLst>
                <a:path h="7498080" w="8689848">
                  <a:moveTo>
                    <a:pt x="0" y="0"/>
                  </a:moveTo>
                  <a:lnTo>
                    <a:pt x="8689848" y="0"/>
                  </a:lnTo>
                  <a:lnTo>
                    <a:pt x="8689848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1020" y="2400300"/>
            <a:ext cx="6771227" cy="5623560"/>
            <a:chOff x="0" y="0"/>
            <a:chExt cx="9028303" cy="7498080"/>
          </a:xfrm>
        </p:grpSpPr>
        <p:sp>
          <p:nvSpPr>
            <p:cNvPr name="Freeform 11" id="11" descr="imgs/cell25_16.png"/>
            <p:cNvSpPr/>
            <p:nvPr/>
          </p:nvSpPr>
          <p:spPr>
            <a:xfrm flipH="false" flipV="false" rot="0">
              <a:off x="0" y="0"/>
              <a:ext cx="9028303" cy="7498080"/>
            </a:xfrm>
            <a:custGeom>
              <a:avLst/>
              <a:gdLst/>
              <a:ahLst/>
              <a:cxnLst/>
              <a:rect r="r" b="b" t="t" l="l"/>
              <a:pathLst>
                <a:path h="7498080" w="9028303">
                  <a:moveTo>
                    <a:pt x="0" y="0"/>
                  </a:moveTo>
                  <a:lnTo>
                    <a:pt x="9028303" y="0"/>
                  </a:lnTo>
                  <a:lnTo>
                    <a:pt x="9028303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93340" y="2606040"/>
            <a:ext cx="2194560" cy="1165860"/>
            <a:chOff x="0" y="0"/>
            <a:chExt cx="29260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3340" y="2688336"/>
            <a:ext cx="2194560" cy="617220"/>
            <a:chOff x="0" y="0"/>
            <a:chExt cx="29260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93340" y="32918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93340" y="397764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293340" y="4059936"/>
            <a:ext cx="2194560" cy="617220"/>
            <a:chOff x="0" y="0"/>
            <a:chExt cx="2926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0.87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3340" y="4663440"/>
            <a:ext cx="2194560" cy="411480"/>
            <a:chOff x="0" y="0"/>
            <a:chExt cx="29260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93340" y="5349240"/>
            <a:ext cx="2194560" cy="1165860"/>
            <a:chOff x="0" y="0"/>
            <a:chExt cx="2926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93340" y="5431536"/>
            <a:ext cx="2194560" cy="617220"/>
            <a:chOff x="0" y="0"/>
            <a:chExt cx="2926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0.62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93340" y="6035040"/>
            <a:ext cx="2194560" cy="411480"/>
            <a:chOff x="0" y="0"/>
            <a:chExt cx="29260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93340" y="6720840"/>
            <a:ext cx="2194560" cy="1165860"/>
            <a:chOff x="0" y="0"/>
            <a:chExt cx="29260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93340" y="6803136"/>
            <a:ext cx="2194560" cy="617220"/>
            <a:chOff x="0" y="0"/>
            <a:chExt cx="292608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93340" y="740664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F1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340" y="809244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293340" y="8174736"/>
            <a:ext cx="2194560" cy="617220"/>
            <a:chOff x="0" y="0"/>
            <a:chExt cx="29260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293340" y="8778240"/>
            <a:ext cx="2194560" cy="411480"/>
            <a:chOff x="0" y="0"/>
            <a:chExt cx="29260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K-Nearest Neighbors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517367" cy="5623560"/>
            <a:chOff x="0" y="0"/>
            <a:chExt cx="8689823" cy="7498080"/>
          </a:xfrm>
        </p:grpSpPr>
        <p:sp>
          <p:nvSpPr>
            <p:cNvPr name="Freeform 9" id="9" descr="imgs/cell24_13.png"/>
            <p:cNvSpPr/>
            <p:nvPr/>
          </p:nvSpPr>
          <p:spPr>
            <a:xfrm flipH="false" flipV="false" rot="0">
              <a:off x="0" y="0"/>
              <a:ext cx="8689848" cy="7498080"/>
            </a:xfrm>
            <a:custGeom>
              <a:avLst/>
              <a:gdLst/>
              <a:ahLst/>
              <a:cxnLst/>
              <a:rect r="r" b="b" t="t" l="l"/>
              <a:pathLst>
                <a:path h="7498080" w="8689848">
                  <a:moveTo>
                    <a:pt x="0" y="0"/>
                  </a:moveTo>
                  <a:lnTo>
                    <a:pt x="8689848" y="0"/>
                  </a:lnTo>
                  <a:lnTo>
                    <a:pt x="8689848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1020" y="2400300"/>
            <a:ext cx="6771227" cy="5623560"/>
            <a:chOff x="0" y="0"/>
            <a:chExt cx="9028303" cy="7498080"/>
          </a:xfrm>
        </p:grpSpPr>
        <p:sp>
          <p:nvSpPr>
            <p:cNvPr name="Freeform 11" id="11" descr="imgs/cell24_14.png"/>
            <p:cNvSpPr/>
            <p:nvPr/>
          </p:nvSpPr>
          <p:spPr>
            <a:xfrm flipH="false" flipV="false" rot="0">
              <a:off x="0" y="0"/>
              <a:ext cx="9028303" cy="7498080"/>
            </a:xfrm>
            <a:custGeom>
              <a:avLst/>
              <a:gdLst/>
              <a:ahLst/>
              <a:cxnLst/>
              <a:rect r="r" b="b" t="t" l="l"/>
              <a:pathLst>
                <a:path h="7498080" w="9028303">
                  <a:moveTo>
                    <a:pt x="0" y="0"/>
                  </a:moveTo>
                  <a:lnTo>
                    <a:pt x="9028303" y="0"/>
                  </a:lnTo>
                  <a:lnTo>
                    <a:pt x="9028303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93340" y="2606040"/>
            <a:ext cx="2194560" cy="1165860"/>
            <a:chOff x="0" y="0"/>
            <a:chExt cx="29260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3340" y="2688336"/>
            <a:ext cx="2194560" cy="617220"/>
            <a:chOff x="0" y="0"/>
            <a:chExt cx="29260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93340" y="32918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93340" y="397764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293340" y="4059936"/>
            <a:ext cx="2194560" cy="617220"/>
            <a:chOff x="0" y="0"/>
            <a:chExt cx="2926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3340" y="4663440"/>
            <a:ext cx="2194560" cy="411480"/>
            <a:chOff x="0" y="0"/>
            <a:chExt cx="29260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93340" y="5349240"/>
            <a:ext cx="2194560" cy="1165860"/>
            <a:chOff x="0" y="0"/>
            <a:chExt cx="2926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93340" y="5431536"/>
            <a:ext cx="2194560" cy="617220"/>
            <a:chOff x="0" y="0"/>
            <a:chExt cx="2926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0.57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93340" y="6035040"/>
            <a:ext cx="2194560" cy="411480"/>
            <a:chOff x="0" y="0"/>
            <a:chExt cx="29260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93340" y="6720840"/>
            <a:ext cx="2194560" cy="1165860"/>
            <a:chOff x="0" y="0"/>
            <a:chExt cx="29260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93340" y="6803136"/>
            <a:ext cx="2194560" cy="617220"/>
            <a:chOff x="0" y="0"/>
            <a:chExt cx="292608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93340" y="740664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F1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340" y="809244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293340" y="8174736"/>
            <a:ext cx="2194560" cy="617220"/>
            <a:chOff x="0" y="0"/>
            <a:chExt cx="29260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0.89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293340" y="8778240"/>
            <a:ext cx="2194560" cy="411480"/>
            <a:chOff x="0" y="0"/>
            <a:chExt cx="29260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Decision Tree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517367" cy="5623560"/>
            <a:chOff x="0" y="0"/>
            <a:chExt cx="8689823" cy="7498080"/>
          </a:xfrm>
        </p:grpSpPr>
        <p:sp>
          <p:nvSpPr>
            <p:cNvPr name="Freeform 9" id="9" descr="imgs/cell26_17.png"/>
            <p:cNvSpPr/>
            <p:nvPr/>
          </p:nvSpPr>
          <p:spPr>
            <a:xfrm flipH="false" flipV="false" rot="0">
              <a:off x="0" y="0"/>
              <a:ext cx="8689848" cy="7498080"/>
            </a:xfrm>
            <a:custGeom>
              <a:avLst/>
              <a:gdLst/>
              <a:ahLst/>
              <a:cxnLst/>
              <a:rect r="r" b="b" t="t" l="l"/>
              <a:pathLst>
                <a:path h="7498080" w="8689848">
                  <a:moveTo>
                    <a:pt x="0" y="0"/>
                  </a:moveTo>
                  <a:lnTo>
                    <a:pt x="8689848" y="0"/>
                  </a:lnTo>
                  <a:lnTo>
                    <a:pt x="8689848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1020" y="2400300"/>
            <a:ext cx="6771227" cy="5623560"/>
            <a:chOff x="0" y="0"/>
            <a:chExt cx="9028303" cy="7498080"/>
          </a:xfrm>
        </p:grpSpPr>
        <p:sp>
          <p:nvSpPr>
            <p:cNvPr name="Freeform 11" id="11" descr="imgs/cell26_18.png"/>
            <p:cNvSpPr/>
            <p:nvPr/>
          </p:nvSpPr>
          <p:spPr>
            <a:xfrm flipH="false" flipV="false" rot="0">
              <a:off x="0" y="0"/>
              <a:ext cx="9028303" cy="7498080"/>
            </a:xfrm>
            <a:custGeom>
              <a:avLst/>
              <a:gdLst/>
              <a:ahLst/>
              <a:cxnLst/>
              <a:rect r="r" b="b" t="t" l="l"/>
              <a:pathLst>
                <a:path h="7498080" w="9028303">
                  <a:moveTo>
                    <a:pt x="0" y="0"/>
                  </a:moveTo>
                  <a:lnTo>
                    <a:pt x="9028303" y="0"/>
                  </a:lnTo>
                  <a:lnTo>
                    <a:pt x="9028303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93340" y="2606040"/>
            <a:ext cx="2194560" cy="1165860"/>
            <a:chOff x="0" y="0"/>
            <a:chExt cx="29260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3340" y="2688336"/>
            <a:ext cx="2194560" cy="617220"/>
            <a:chOff x="0" y="0"/>
            <a:chExt cx="29260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93340" y="32918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93340" y="397764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293340" y="4059936"/>
            <a:ext cx="2194560" cy="617220"/>
            <a:chOff x="0" y="0"/>
            <a:chExt cx="2926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3340" y="4663440"/>
            <a:ext cx="2194560" cy="411480"/>
            <a:chOff x="0" y="0"/>
            <a:chExt cx="29260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93340" y="5349240"/>
            <a:ext cx="2194560" cy="1165860"/>
            <a:chOff x="0" y="0"/>
            <a:chExt cx="2926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93340" y="5431536"/>
            <a:ext cx="2194560" cy="617220"/>
            <a:chOff x="0" y="0"/>
            <a:chExt cx="2926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93340" y="6035040"/>
            <a:ext cx="2194560" cy="411480"/>
            <a:chOff x="0" y="0"/>
            <a:chExt cx="29260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93340" y="6720840"/>
            <a:ext cx="2194560" cy="1165860"/>
            <a:chOff x="0" y="0"/>
            <a:chExt cx="29260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93340" y="6803136"/>
            <a:ext cx="2194560" cy="617220"/>
            <a:chOff x="0" y="0"/>
            <a:chExt cx="292608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93340" y="740664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F1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340" y="809244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293340" y="8174736"/>
            <a:ext cx="2194560" cy="617220"/>
            <a:chOff x="0" y="0"/>
            <a:chExt cx="29260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0.85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293340" y="8778240"/>
            <a:ext cx="2194560" cy="411480"/>
            <a:chOff x="0" y="0"/>
            <a:chExt cx="29260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Naive Bayes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6517367" cy="5623560"/>
            <a:chOff x="0" y="0"/>
            <a:chExt cx="8689823" cy="7498080"/>
          </a:xfrm>
        </p:grpSpPr>
        <p:sp>
          <p:nvSpPr>
            <p:cNvPr name="Freeform 9" id="9" descr="imgs/cell27_19.png"/>
            <p:cNvSpPr/>
            <p:nvPr/>
          </p:nvSpPr>
          <p:spPr>
            <a:xfrm flipH="false" flipV="false" rot="0">
              <a:off x="0" y="0"/>
              <a:ext cx="8689848" cy="7498080"/>
            </a:xfrm>
            <a:custGeom>
              <a:avLst/>
              <a:gdLst/>
              <a:ahLst/>
              <a:cxnLst/>
              <a:rect r="r" b="b" t="t" l="l"/>
              <a:pathLst>
                <a:path h="7498080" w="8689848">
                  <a:moveTo>
                    <a:pt x="0" y="0"/>
                  </a:moveTo>
                  <a:lnTo>
                    <a:pt x="8689848" y="0"/>
                  </a:lnTo>
                  <a:lnTo>
                    <a:pt x="8689848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61020" y="2400300"/>
            <a:ext cx="6771227" cy="5623560"/>
            <a:chOff x="0" y="0"/>
            <a:chExt cx="9028303" cy="7498080"/>
          </a:xfrm>
        </p:grpSpPr>
        <p:sp>
          <p:nvSpPr>
            <p:cNvPr name="Freeform 11" id="11" descr="imgs/cell27_20.png"/>
            <p:cNvSpPr/>
            <p:nvPr/>
          </p:nvSpPr>
          <p:spPr>
            <a:xfrm flipH="false" flipV="false" rot="0">
              <a:off x="0" y="0"/>
              <a:ext cx="9028303" cy="7498080"/>
            </a:xfrm>
            <a:custGeom>
              <a:avLst/>
              <a:gdLst/>
              <a:ahLst/>
              <a:cxnLst/>
              <a:rect r="r" b="b" t="t" l="l"/>
              <a:pathLst>
                <a:path h="7498080" w="9028303">
                  <a:moveTo>
                    <a:pt x="0" y="0"/>
                  </a:moveTo>
                  <a:lnTo>
                    <a:pt x="9028303" y="0"/>
                  </a:lnTo>
                  <a:lnTo>
                    <a:pt x="9028303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93340" y="2606040"/>
            <a:ext cx="2194560" cy="1165860"/>
            <a:chOff x="0" y="0"/>
            <a:chExt cx="29260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3340" y="2688336"/>
            <a:ext cx="2194560" cy="617220"/>
            <a:chOff x="0" y="0"/>
            <a:chExt cx="29260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93340" y="32918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93340" y="397764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293340" y="4059936"/>
            <a:ext cx="2194560" cy="617220"/>
            <a:chOff x="0" y="0"/>
            <a:chExt cx="2926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0.46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3340" y="4663440"/>
            <a:ext cx="2194560" cy="411480"/>
            <a:chOff x="0" y="0"/>
            <a:chExt cx="29260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93340" y="5349240"/>
            <a:ext cx="2194560" cy="1165860"/>
            <a:chOff x="0" y="0"/>
            <a:chExt cx="2926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93340" y="5431536"/>
            <a:ext cx="2194560" cy="617220"/>
            <a:chOff x="0" y="0"/>
            <a:chExt cx="2926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0.66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93340" y="6035040"/>
            <a:ext cx="2194560" cy="411480"/>
            <a:chOff x="0" y="0"/>
            <a:chExt cx="29260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93340" y="6720840"/>
            <a:ext cx="2194560" cy="1165860"/>
            <a:chOff x="0" y="0"/>
            <a:chExt cx="29260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93340" y="6803136"/>
            <a:ext cx="2194560" cy="617220"/>
            <a:chOff x="0" y="0"/>
            <a:chExt cx="292608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0.54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93340" y="740664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F1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340" y="809244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7A2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293340" y="8174736"/>
            <a:ext cx="2194560" cy="617220"/>
            <a:chOff x="0" y="0"/>
            <a:chExt cx="29260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26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293340" y="8778240"/>
            <a:ext cx="2194560" cy="411480"/>
            <a:chOff x="0" y="0"/>
            <a:chExt cx="29260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 &amp; DISCUSSION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Overall performance comparison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36676" y="877824"/>
            <a:ext cx="19915632" cy="10177272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7A2E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DEPLOYMENT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Diabetes Risk Predictor — live web app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3347561"/>
            <a:ext cx="8092440" cy="4551997"/>
            <a:chOff x="0" y="0"/>
            <a:chExt cx="10789920" cy="6069330"/>
          </a:xfrm>
        </p:grpSpPr>
        <p:sp>
          <p:nvSpPr>
            <p:cNvPr name="Freeform 9" id="9" descr="imgs/app_input.png"/>
            <p:cNvSpPr/>
            <p:nvPr/>
          </p:nvSpPr>
          <p:spPr>
            <a:xfrm flipH="false" flipV="false" rot="0">
              <a:off x="0" y="0"/>
              <a:ext cx="10789920" cy="6069330"/>
            </a:xfrm>
            <a:custGeom>
              <a:avLst/>
              <a:gdLst/>
              <a:ahLst/>
              <a:cxnLst/>
              <a:rect r="r" b="b" t="t" l="l"/>
              <a:pathLst>
                <a:path h="606933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069330"/>
                  </a:lnTo>
                  <a:lnTo>
                    <a:pt x="0" y="606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26880" y="3347561"/>
            <a:ext cx="8092440" cy="4551997"/>
            <a:chOff x="0" y="0"/>
            <a:chExt cx="10789920" cy="6069330"/>
          </a:xfrm>
        </p:grpSpPr>
        <p:sp>
          <p:nvSpPr>
            <p:cNvPr name="Freeform 11" id="11" descr="imgs/app_result.png"/>
            <p:cNvSpPr/>
            <p:nvPr/>
          </p:nvSpPr>
          <p:spPr>
            <a:xfrm flipH="false" flipV="false" rot="0">
              <a:off x="0" y="0"/>
              <a:ext cx="10789920" cy="6069330"/>
            </a:xfrm>
            <a:custGeom>
              <a:avLst/>
              <a:gdLst/>
              <a:ahLst/>
              <a:cxnLst/>
              <a:rect r="r" b="b" t="t" l="l"/>
              <a:pathLst>
                <a:path h="606933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069330"/>
                  </a:lnTo>
                  <a:lnTo>
                    <a:pt x="0" y="606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8983980"/>
            <a:ext cx="8092440" cy="685800"/>
            <a:chOff x="0" y="0"/>
            <a:chExt cx="107899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Streamlit app taking gender, age, BMI, HbA1c, glucose &amp; more as input.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26880" y="8983980"/>
            <a:ext cx="8092440" cy="685800"/>
            <a:chOff x="0" y="0"/>
            <a:chExt cx="107899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Example: 33-year-old male, BMI 25, HbA1c 5.5% → 1.5% estimated risk (lower risk).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AAAA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E3C9A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116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takeaways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023860" cy="3154680"/>
            <a:chOff x="0" y="0"/>
            <a:chExt cx="10698480" cy="420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059936"/>
                  </a:lnTo>
                  <a:cubicBezTo>
                    <a:pt x="10698480" y="4140708"/>
                    <a:pt x="10632948" y="4206240"/>
                    <a:pt x="1055217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5A202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7200900" cy="685800"/>
            <a:chOff x="0" y="0"/>
            <a:chExt cx="96012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6012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Best overall balance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634740"/>
            <a:ext cx="7200900" cy="1783080"/>
            <a:chOff x="0" y="0"/>
            <a:chExt cx="960120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60120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XGBoost (F1 = 0.81, AUC = 0.98) and Random Forest (F1 = 0.80, AUC = 0.96) led the field.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58300" y="2537460"/>
            <a:ext cx="8023860" cy="3154680"/>
            <a:chOff x="0" y="0"/>
            <a:chExt cx="10698480" cy="4206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059936"/>
                  </a:lnTo>
                  <a:cubicBezTo>
                    <a:pt x="10698480" y="4140708"/>
                    <a:pt x="10632948" y="4206240"/>
                    <a:pt x="1055217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5A202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69780" y="2880360"/>
            <a:ext cx="7200900" cy="685800"/>
            <a:chOff x="0" y="0"/>
            <a:chExt cx="96012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96012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Clinically confirmed predictors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69780" y="3634740"/>
            <a:ext cx="7200900" cy="1783080"/>
            <a:chOff x="0" y="0"/>
            <a:chExt cx="9601200" cy="2377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60120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HbA1c level and blood glucose together account for ~70% of feature importance.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6103620"/>
            <a:ext cx="8023860" cy="3154680"/>
            <a:chOff x="0" y="0"/>
            <a:chExt cx="10698480" cy="4206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059936"/>
                  </a:lnTo>
                  <a:cubicBezTo>
                    <a:pt x="10698480" y="4140708"/>
                    <a:pt x="10632948" y="4206240"/>
                    <a:pt x="1055217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5A202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6446520"/>
            <a:ext cx="7200900" cy="685800"/>
            <a:chOff x="0" y="0"/>
            <a:chExt cx="96012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96012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Accuracy alone misleads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" y="7200900"/>
            <a:ext cx="7200900" cy="1783080"/>
            <a:chOff x="0" y="0"/>
            <a:chExt cx="9601200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60120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 ~91.5% non-diabetic cases, F1 and recall are far more informative than accuracy.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58300" y="6103620"/>
            <a:ext cx="8023860" cy="3154680"/>
            <a:chOff x="0" y="0"/>
            <a:chExt cx="10698480" cy="4206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059936"/>
                  </a:lnTo>
                  <a:cubicBezTo>
                    <a:pt x="10698480" y="4140708"/>
                    <a:pt x="10632948" y="4206240"/>
                    <a:pt x="1055217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5A202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69780" y="6446520"/>
            <a:ext cx="7200900" cy="685800"/>
            <a:chOff x="0" y="0"/>
            <a:chExt cx="96012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6012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Next steps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69780" y="7200900"/>
            <a:ext cx="7200900" cy="1783080"/>
            <a:chOff x="0" y="0"/>
            <a:chExt cx="9601200" cy="2377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960120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EAD9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 class imbalance (SMOTE), tune ensemble hyperparameters, validate externally, add multi-class staging.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3977640"/>
            <a:ext cx="15087600" cy="1371600"/>
            <a:chOff x="0" y="0"/>
            <a:chExt cx="201168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1168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5349240"/>
            <a:ext cx="15087600" cy="685800"/>
            <a:chOff x="0" y="0"/>
            <a:chExt cx="201168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Asmaa Mohamed Mansour  |  ID: 221001928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5966460"/>
            <a:ext cx="15087600" cy="548640"/>
            <a:chOff x="0" y="0"/>
            <a:chExt cx="201168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11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3C9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CBIO313: Machine Learning &amp; Data Mining  ·  Nile University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6446520"/>
            <a:ext cx="15087600" cy="548640"/>
            <a:chOff x="0" y="0"/>
            <a:chExt cx="20116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011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3C9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Supervised by: Dr. Muhammed Elsayeh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DAHR9t8BoWQ</dc:identifier>
  <dcterms:modified xsi:type="dcterms:W3CDTF">2011-08-01T06:04:30Z</dcterms:modified>
  <cp:revision>1</cp:revision>
  <dc:title>CBIO313_Diabetes_Asmaa.pptx</dc:title>
</cp:coreProperties>
</file>